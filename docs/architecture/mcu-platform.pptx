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2097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200702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1009495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4697421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02874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967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336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8421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5829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7BE5E4-7706-EB22-1776-557B43A5D9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B4A3E8-1469-EB14-7E23-661D7B1B80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274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645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530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B9CD85-1544-A6E1-07D6-1E898796D4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647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0164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2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999B7B-A2F4-F9B1-A084-CC605596C1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689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3961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070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C8FDEF-509C-2078-2643-536B8F9A2A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30666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14909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169595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26670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9081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0537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84904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20616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92294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3436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534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77841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52526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01364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006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3723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866159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22552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21291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1084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4108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8735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8466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1427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570438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957766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311193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048642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98228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8109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42473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913245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1400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88790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467709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62929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79319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47404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78772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60652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687381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68779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46476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914779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522309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23512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11952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73970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070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58603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37828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40604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1934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58065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444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7297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33160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79154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6089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63482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60879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07845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257079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58769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MCU-platform for R-DIM</a:t>
            </a:r>
            <a:endParaRPr lang="en-US"/>
          </a:p>
        </p:txBody>
      </p:sp>
      <p:sp>
        <p:nvSpPr>
          <p:cNvPr id="50658264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Michigan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50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R-DIM: Relaxation-based DIM</a:t>
            </a:r>
            <a:endParaRPr/>
          </a:p>
        </p:txBody>
      </p:sp>
      <p:grpSp>
        <p:nvGrpSpPr>
          <p:cNvPr id="2056792371" name="Group 150184379"/>
          <p:cNvGrpSpPr/>
          <p:nvPr/>
        </p:nvGrpSpPr>
        <p:grpSpPr bwMode="auto">
          <a:xfrm>
            <a:off x="1634439" y="2320315"/>
            <a:ext cx="9017318" cy="2678989"/>
            <a:chOff x="0" y="0"/>
            <a:chExt cx="9017318" cy="2678989"/>
          </a:xfrm>
        </p:grpSpPr>
        <p:grpSp>
          <p:nvGrpSpPr>
            <p:cNvPr id="1733181530" name="Group 15"/>
            <p:cNvGrpSpPr/>
            <p:nvPr/>
          </p:nvGrpSpPr>
          <p:grpSpPr bwMode="auto">
            <a:xfrm>
              <a:off x="7006671" y="436428"/>
              <a:ext cx="2010647" cy="601518"/>
              <a:chOff x="0" y="0"/>
              <a:chExt cx="2010647" cy="601518"/>
            </a:xfrm>
          </p:grpSpPr>
          <p:sp>
            <p:nvSpPr>
              <p:cNvPr id="795810524" name="Flowchart: Terminator 13"/>
              <p:cNvSpPr/>
              <p:nvPr/>
            </p:nvSpPr>
            <p:spPr bwMode="auto">
              <a:xfrm>
                <a:off x="101929" y="0"/>
                <a:ext cx="1859638" cy="601518"/>
              </a:xfrm>
              <a:prstGeom prst="flowChartTerminator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51139796" name="TextBox 14"/>
              <p:cNvSpPr txBox="1"/>
              <p:nvPr/>
            </p:nvSpPr>
            <p:spPr bwMode="auto">
              <a:xfrm>
                <a:off x="0" y="116089"/>
                <a:ext cx="2010647" cy="388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/>
                  <a:t>Binary solution, </a:t>
                </a: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r>
                            <m:rPr/>
                            <a:rPr lang="en-US" b="1" i="1">
                              <a:latin typeface="Cambria Math"/>
                            </a:rPr>
                            <m:t>𝝈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US" b="1"/>
              </a:p>
            </p:txBody>
          </p:sp>
        </p:grpSp>
        <p:sp>
          <p:nvSpPr>
            <p:cNvPr id="1087317988" name="Rectangle 24"/>
            <p:cNvSpPr/>
            <p:nvPr/>
          </p:nvSpPr>
          <p:spPr bwMode="auto">
            <a:xfrm>
              <a:off x="1756192" y="1232858"/>
              <a:ext cx="7107259" cy="1446130"/>
            </a:xfrm>
            <a:prstGeom prst="rect">
              <a:avLst/>
            </a:prstGeom>
            <a:solidFill>
              <a:srgbClr val="DDD9C3">
                <a:alpha val="67843"/>
              </a:srgbClr>
            </a:solidFill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96395402" name="Straight Arrow Connector 17"/>
            <p:cNvCxnSpPr/>
            <p:nvPr/>
          </p:nvCxnSpPr>
          <p:spPr bwMode="auto">
            <a:xfrm rot="16199969">
              <a:off x="8051832" y="1849267"/>
              <a:ext cx="18518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4909002" name="TextBox 5"/>
            <p:cNvSpPr txBox="1"/>
            <p:nvPr/>
          </p:nvSpPr>
          <p:spPr bwMode="auto">
            <a:xfrm flipH="0" flipV="0">
              <a:off x="3903859" y="1941862"/>
              <a:ext cx="1410084" cy="6404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/>
                <a:t>Progression rules</a:t>
              </a:r>
              <a:endParaRPr/>
            </a:p>
          </p:txBody>
        </p:sp>
        <p:sp>
          <p:nvSpPr>
            <p:cNvPr id="1517752399" name="TextBox 6"/>
            <p:cNvSpPr txBox="1"/>
            <p:nvPr/>
          </p:nvSpPr>
          <p:spPr bwMode="auto">
            <a:xfrm>
              <a:off x="1816111" y="1941861"/>
              <a:ext cx="1664208" cy="6629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/>
                <a:t>Random initial state,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i="1">
                            <a:latin typeface="Cambria Math"/>
                          </a:rPr>
                          <m:t>𝜉</m:t>
                        </m:r>
                        <m:d>
                          <m:d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/>
                              <a:rPr lang="en-US" i="1">
                                <a:latin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  <p:sp>
          <p:nvSpPr>
            <p:cNvPr id="1992517161" name="TextBox 7"/>
            <p:cNvSpPr txBox="1"/>
            <p:nvPr/>
          </p:nvSpPr>
          <p:spPr bwMode="auto">
            <a:xfrm>
              <a:off x="5672089" y="1922724"/>
              <a:ext cx="1344777" cy="642404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/>
                <a:t>Evolution</a:t>
              </a:r>
              <a:endParaRPr/>
            </a:p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acc>
                          <m:accPr>
                            <m:chr m:val="̇"/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m:rPr/>
                              <a:rPr lang="en-US" b="1" i="1">
                                <a:latin typeface="Cambria Math"/>
                              </a:rPr>
                              <m:t>𝝃</m:t>
                            </m:r>
                          </m:e>
                        </m:acc>
                        <m:r>
                          <m:rPr/>
                          <a:rPr lang="en-US" i="1">
                            <a:latin typeface="Cambria Math"/>
                          </a:rPr>
                          <m:t>=</m:t>
                        </m:r>
                        <m:r>
                          <m:rPr/>
                          <a:rPr lang="en-US" b="1" i="1">
                            <a:latin typeface="Cambria Math"/>
                          </a:rPr>
                          <m:t>𝑭</m:t>
                        </m:r>
                        <m:d>
                          <m:d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/>
                              <a:rPr lang="en-US" b="1" i="1">
                                <a:latin typeface="Cambria Math"/>
                              </a:rPr>
                              <m:t>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  <p:sp>
          <p:nvSpPr>
            <p:cNvPr id="622498002" name="TextBox 8"/>
            <p:cNvSpPr txBox="1"/>
            <p:nvPr/>
          </p:nvSpPr>
          <p:spPr bwMode="auto">
            <a:xfrm>
              <a:off x="7602300" y="1941862"/>
              <a:ext cx="1081103" cy="66297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/>
                <a:t>Final state,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b="1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b="1" i="1">
                                <a:latin typeface="Cambria Math"/>
                              </a:rPr>
                              <m:t>𝝃</m:t>
                            </m:r>
                          </m:e>
                          <m:sub>
                            <m:r>
                              <m:rPr/>
                              <a:rPr lang="en-US" b="0" i="1">
                                <a:latin typeface="Cambria Math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  <p:cxnSp>
          <p:nvCxnSpPr>
            <p:cNvPr id="1812955601" name="Straight Arrow Connector 10"/>
            <p:cNvCxnSpPr>
              <a:stCxn id="414909002" idx="3"/>
            </p:cNvCxnSpPr>
            <p:nvPr/>
          </p:nvCxnSpPr>
          <p:spPr bwMode="auto">
            <a:xfrm rot="0" flipH="0" flipV="0">
              <a:off x="5313224" y="2262819"/>
              <a:ext cx="358864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5571917" name="Straight Arrow Connector 12"/>
            <p:cNvCxnSpPr/>
            <p:nvPr/>
          </p:nvCxnSpPr>
          <p:spPr bwMode="auto">
            <a:xfrm>
              <a:off x="7182696" y="2265030"/>
              <a:ext cx="41960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4377537" name="Straight Arrow Connector 19"/>
            <p:cNvCxnSpPr/>
            <p:nvPr/>
          </p:nvCxnSpPr>
          <p:spPr bwMode="auto">
            <a:xfrm>
              <a:off x="3479960" y="2265027"/>
              <a:ext cx="42389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67971830" name="TextBox 23"/>
            <p:cNvSpPr txBox="1"/>
            <p:nvPr/>
          </p:nvSpPr>
          <p:spPr bwMode="auto">
            <a:xfrm>
              <a:off x="1755861" y="1252431"/>
              <a:ext cx="1210630" cy="518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defRPr/>
              </a:pPr>
              <a:r>
                <a:rPr lang="en-US" sz="2800" b="1" cap="small"/>
                <a:t>R-DIM</a:t>
              </a:r>
              <a:endParaRPr sz="2800"/>
            </a:p>
          </p:txBody>
        </p:sp>
        <p:sp>
          <p:nvSpPr>
            <p:cNvPr id="1252006351" name="TextBox 20"/>
            <p:cNvSpPr txBox="1"/>
            <p:nvPr/>
          </p:nvSpPr>
          <p:spPr bwMode="auto">
            <a:xfrm>
              <a:off x="7577824" y="1390554"/>
              <a:ext cx="1200127" cy="36611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7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/>
                <a:t>Projection</a:t>
              </a:r>
              <a:endParaRPr/>
            </a:p>
          </p:txBody>
        </p:sp>
        <p:cxnSp>
          <p:nvCxnSpPr>
            <p:cNvPr id="386487394" name="Straight Arrow Connector 31"/>
            <p:cNvCxnSpPr/>
            <p:nvPr/>
          </p:nvCxnSpPr>
          <p:spPr bwMode="auto">
            <a:xfrm flipV="1">
              <a:off x="8114437" y="1040895"/>
              <a:ext cx="0" cy="34272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9374442" name="Connector: Elbow 38"/>
            <p:cNvCxnSpPr/>
            <p:nvPr/>
          </p:nvCxnSpPr>
          <p:spPr bwMode="auto">
            <a:xfrm rot="10799989" flipV="1">
              <a:off x="5027038" y="1573614"/>
              <a:ext cx="2550784" cy="358031"/>
            </a:xfrm>
            <a:prstGeom prst="bentConnector3">
              <a:avLst>
                <a:gd name="adj1" fmla="val 10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6413013" name="TextBox 42"/>
            <p:cNvSpPr txBox="1"/>
            <p:nvPr/>
          </p:nvSpPr>
          <p:spPr bwMode="auto">
            <a:xfrm>
              <a:off x="5368244" y="1226281"/>
              <a:ext cx="1940403" cy="640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Rules adjustment</a:t>
              </a:r>
              <a:endParaRPr/>
            </a:p>
          </p:txBody>
        </p:sp>
        <p:sp>
          <p:nvSpPr>
            <p:cNvPr id="1456336051" name="TextBox 411176710"/>
            <p:cNvSpPr txBox="1"/>
            <p:nvPr/>
          </p:nvSpPr>
          <p:spPr bwMode="auto">
            <a:xfrm>
              <a:off x="2989775" y="1294561"/>
              <a:ext cx="1055575" cy="366119"/>
            </a:xfrm>
            <a:prstGeom prst="rect">
              <a:avLst/>
            </a:prstGeom>
            <a:solidFill>
              <a:srgbClr val="DDD9C3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compatLnSpc="0">
              <a:spAutoFit/>
            </a:bodyPr>
            <a:lstStyle/>
            <a:p>
              <a:pPr>
                <a:defRPr/>
              </a:pPr>
              <a:r>
                <a:rPr lang="en-US" sz="1800" b="0" i="1" u="none" strike="noStrike" cap="none" spc="0">
                  <a:solidFill>
                    <a:schemeClr val="tx1"/>
                  </a:solidFill>
                  <a:latin typeface="Calibri"/>
                  <a:ea typeface="Arial"/>
                  <a:cs typeface="Arial"/>
                </a:rPr>
                <a:t>Low-level</a:t>
              </a:r>
              <a:endParaRPr i="1"/>
            </a:p>
          </p:txBody>
        </p:sp>
        <p:grpSp>
          <p:nvGrpSpPr>
            <p:cNvPr id="153934140" name="Group 1281172537"/>
            <p:cNvGrpSpPr/>
            <p:nvPr/>
          </p:nvGrpSpPr>
          <p:grpSpPr bwMode="auto">
            <a:xfrm>
              <a:off x="0" y="367804"/>
              <a:ext cx="4668106" cy="763714"/>
              <a:chOff x="0" y="0"/>
              <a:chExt cx="4668106" cy="763714"/>
            </a:xfrm>
          </p:grpSpPr>
          <p:sp>
            <p:nvSpPr>
              <p:cNvPr id="1293980189" name="Rectangle 2238297"/>
              <p:cNvSpPr/>
              <p:nvPr/>
            </p:nvSpPr>
            <p:spPr bwMode="auto">
              <a:xfrm>
                <a:off x="0" y="0"/>
                <a:ext cx="4668106" cy="76371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699" cap="flat" cmpd="sng" algn="ctr">
                <a:solidFill>
                  <a:srgbClr val="325491"/>
                </a:solidFill>
                <a:prstDash val="lg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01516950" name="TextBox 4"/>
              <p:cNvSpPr txBox="1"/>
              <p:nvPr/>
            </p:nvSpPr>
            <p:spPr bwMode="auto">
              <a:xfrm>
                <a:off x="3364233" y="68621"/>
                <a:ext cx="1273716" cy="6629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Adjacency matrix, </a:t>
                </a: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r>
                            <m:rPr/>
                            <a:rPr lang="en-US" b="1" i="1">
                              <a:latin typeface="Cambria Math"/>
                            </a:rPr>
                            <m:t>𝑨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US" b="1"/>
              </a:p>
            </p:txBody>
          </p:sp>
          <p:sp>
            <p:nvSpPr>
              <p:cNvPr id="9902360" name="TextBox 9"/>
              <p:cNvSpPr txBox="1"/>
              <p:nvPr/>
            </p:nvSpPr>
            <p:spPr bwMode="auto">
              <a:xfrm>
                <a:off x="34906" y="68621"/>
                <a:ext cx="1665068" cy="6404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/>
                  <a:t>Optimization problem</a:t>
                </a:r>
                <a:endParaRPr lang="en-US" b="1"/>
              </a:p>
            </p:txBody>
          </p:sp>
          <p:cxnSp>
            <p:nvCxnSpPr>
              <p:cNvPr id="1121418606" name="Straight Arrow Connector 11"/>
              <p:cNvCxnSpPr/>
              <p:nvPr/>
            </p:nvCxnSpPr>
            <p:spPr bwMode="auto">
              <a:xfrm>
                <a:off x="1699615" y="391786"/>
                <a:ext cx="166461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3815642" name="TextBox 1097219178"/>
              <p:cNvSpPr txBox="1"/>
              <p:nvPr/>
            </p:nvSpPr>
            <p:spPr bwMode="auto">
              <a:xfrm>
                <a:off x="1878607" y="0"/>
                <a:ext cx="1108707" cy="36611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52999"/>
                </a:schemeClr>
              </a:solidFill>
            </p:spPr>
            <p:txBody>
              <a:bodyPr vertOverflow="overflow" horzOverflow="overflow" vert="horz" wrap="non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800" b="0" i="1" u="none" strike="noStrike" cap="none" spc="0">
                    <a:solidFill>
                      <a:schemeClr val="tx1"/>
                    </a:solidFill>
                    <a:latin typeface="Calibri"/>
                    <a:ea typeface="Arial"/>
                    <a:cs typeface="Arial"/>
                  </a:rPr>
                  <a:t>High-level</a:t>
                </a:r>
                <a:endParaRPr i="1"/>
              </a:p>
            </p:txBody>
          </p:sp>
        </p:grpSp>
        <p:cxnSp>
          <p:nvCxnSpPr>
            <p:cNvPr id="969203498" name="Straight Connector 834512348"/>
            <p:cNvCxnSpPr/>
            <p:nvPr/>
          </p:nvCxnSpPr>
          <p:spPr bwMode="auto">
            <a:xfrm flipH="1">
              <a:off x="4045989" y="1075846"/>
              <a:ext cx="0" cy="857250"/>
            </a:xfrm>
            <a:prstGeom prst="line">
              <a:avLst/>
            </a:prstGeom>
            <a:ln w="25399" cap="flat" cmpd="sng" algn="ctr">
              <a:solidFill>
                <a:schemeClr val="accent1"/>
              </a:solidFill>
              <a:prstDash val="solid"/>
              <a:miter lim="800000"/>
              <a:tailEnd type="triangle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4910809" name="Group 618410586"/>
            <p:cNvGrpSpPr/>
            <p:nvPr/>
          </p:nvGrpSpPr>
          <p:grpSpPr bwMode="auto">
            <a:xfrm>
              <a:off x="5614842" y="0"/>
              <a:ext cx="1476756" cy="1089420"/>
              <a:chOff x="0" y="0"/>
              <a:chExt cx="1476756" cy="1089420"/>
            </a:xfrm>
          </p:grpSpPr>
          <p:sp>
            <p:nvSpPr>
              <p:cNvPr id="1253465460" name="Rectangle 87287030"/>
              <p:cNvSpPr/>
              <p:nvPr/>
            </p:nvSpPr>
            <p:spPr bwMode="auto">
              <a:xfrm flipH="0" flipV="0">
                <a:off x="0" y="0"/>
                <a:ext cx="1476036" cy="10894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rgbClr val="325491"/>
                </a:solidFill>
                <a:prstDash val="lg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37924973" name="TextBox 206585605"/>
              <p:cNvSpPr txBox="1"/>
              <p:nvPr/>
            </p:nvSpPr>
            <p:spPr bwMode="auto">
              <a:xfrm>
                <a:off x="213126" y="70306"/>
                <a:ext cx="1053108" cy="36611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800" b="0" i="1" u="none" strike="noStrike" cap="none" spc="0">
                    <a:solidFill>
                      <a:schemeClr val="tx1"/>
                    </a:solidFill>
                    <a:latin typeface="Calibri"/>
                    <a:ea typeface="Arial"/>
                    <a:cs typeface="Arial"/>
                  </a:rPr>
                  <a:t>Mid-level</a:t>
                </a:r>
                <a:endParaRPr i="1"/>
              </a:p>
            </p:txBody>
          </p:sp>
          <p:sp>
            <p:nvSpPr>
              <p:cNvPr id="418173193" name="TextBox 321645166"/>
              <p:cNvSpPr txBox="1"/>
              <p:nvPr/>
            </p:nvSpPr>
            <p:spPr bwMode="auto">
              <a:xfrm flipH="0" flipV="0">
                <a:off x="57245" y="413703"/>
                <a:ext cx="1419510" cy="640440"/>
              </a:xfrm>
              <a:prstGeom prst="rect">
                <a:avLst/>
              </a:prstGeom>
              <a:noFill/>
              <a:ln w="12699">
                <a:solidFill>
                  <a:schemeClr val="accent1">
                    <a:lumMod val="50196"/>
                  </a:schemeClr>
                </a:solidFill>
                <a:prstDash val="solid"/>
              </a:ln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/>
                  <a:t>Progression program</a:t>
                </a:r>
                <a:endParaRPr/>
              </a:p>
            </p:txBody>
          </p:sp>
        </p:grpSp>
        <p:sp>
          <p:nvSpPr>
            <p:cNvPr id="1082092451" name="Arrow: Right 1170514631"/>
            <p:cNvSpPr/>
            <p:nvPr/>
          </p:nvSpPr>
          <p:spPr bwMode="auto">
            <a:xfrm>
              <a:off x="4781404" y="642935"/>
              <a:ext cx="714375" cy="26788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6349" cap="flat" cmpd="sng" algn="ctr">
              <a:solidFill>
                <a:schemeClr val="accent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1241785963" name="Straight Connector 1591925023"/>
            <p:cNvCxnSpPr/>
            <p:nvPr/>
          </p:nvCxnSpPr>
          <p:spPr bwMode="auto">
            <a:xfrm flipH="1">
              <a:off x="4370638" y="1037948"/>
              <a:ext cx="1301810" cy="895146"/>
            </a:xfrm>
            <a:prstGeom prst="line">
              <a:avLst/>
            </a:prstGeom>
            <a:ln w="25399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  <a:tailEnd type="triangle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028396" name="Straight Connector 2092206733"/>
            <p:cNvCxnSpPr/>
            <p:nvPr/>
          </p:nvCxnSpPr>
          <p:spPr bwMode="auto">
            <a:xfrm rot="5399976" flipV="1">
              <a:off x="6202002" y="1211175"/>
              <a:ext cx="243509" cy="0"/>
            </a:xfrm>
            <a:prstGeom prst="line">
              <a:avLst/>
            </a:prstGeom>
            <a:ln w="25399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  <a:tailEnd type="triangle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9400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Software-hardware co-development </a:t>
            </a:r>
            <a:endParaRPr/>
          </a:p>
        </p:txBody>
      </p:sp>
      <p:grpSp>
        <p:nvGrpSpPr>
          <p:cNvPr id="665762715" name="Group 53"/>
          <p:cNvGrpSpPr/>
          <p:nvPr/>
        </p:nvGrpSpPr>
        <p:grpSpPr bwMode="auto">
          <a:xfrm flipH="0" flipV="0">
            <a:off x="379752" y="4192413"/>
            <a:ext cx="11241473" cy="1615439"/>
            <a:chOff x="0" y="0"/>
            <a:chExt cx="11241473" cy="1615439"/>
          </a:xfrm>
        </p:grpSpPr>
        <p:sp>
          <p:nvSpPr>
            <p:cNvPr id="403908482" name="Rectangle 2"/>
            <p:cNvSpPr/>
            <p:nvPr/>
          </p:nvSpPr>
          <p:spPr bwMode="auto">
            <a:xfrm>
              <a:off x="2" y="0"/>
              <a:ext cx="11241471" cy="161543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10688063" name="TextBox 4"/>
            <p:cNvSpPr txBox="1"/>
            <p:nvPr/>
          </p:nvSpPr>
          <p:spPr bwMode="auto">
            <a:xfrm>
              <a:off x="0" y="307"/>
              <a:ext cx="1557363" cy="640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b="1">
                  <a:ln w="0"/>
                </a:rPr>
                <a:t>Software component</a:t>
              </a:r>
              <a:endParaRPr/>
            </a:p>
          </p:txBody>
        </p:sp>
        <p:grpSp>
          <p:nvGrpSpPr>
            <p:cNvPr id="1221546863" name="Group 38"/>
            <p:cNvGrpSpPr/>
            <p:nvPr/>
          </p:nvGrpSpPr>
          <p:grpSpPr bwMode="auto">
            <a:xfrm flipH="0" flipV="0">
              <a:off x="1946302" y="99308"/>
              <a:ext cx="8654348" cy="397638"/>
              <a:chOff x="0" y="0"/>
              <a:chExt cx="8654348" cy="397638"/>
            </a:xfrm>
          </p:grpSpPr>
          <p:sp>
            <p:nvSpPr>
              <p:cNvPr id="1136453527" name="Rectangle 34"/>
              <p:cNvSpPr/>
              <p:nvPr/>
            </p:nvSpPr>
            <p:spPr bwMode="auto">
              <a:xfrm>
                <a:off x="0" y="0"/>
                <a:ext cx="8654348" cy="39763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52759707" name="Group 13"/>
              <p:cNvGrpSpPr/>
              <p:nvPr/>
            </p:nvGrpSpPr>
            <p:grpSpPr bwMode="auto">
              <a:xfrm flipH="0" flipV="0">
                <a:off x="0" y="10159"/>
                <a:ext cx="7622035" cy="366119"/>
                <a:chOff x="0" y="0"/>
                <a:chExt cx="7622035" cy="366119"/>
              </a:xfrm>
            </p:grpSpPr>
            <p:sp>
              <p:nvSpPr>
                <p:cNvPr id="1969666573" name="TextBox 5"/>
                <p:cNvSpPr txBox="1"/>
                <p:nvPr/>
              </p:nvSpPr>
              <p:spPr bwMode="auto">
                <a:xfrm>
                  <a:off x="0" y="0"/>
                  <a:ext cx="2791819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 i="1" u="sng"/>
                    <a:t>User-facing interfaces</a:t>
                  </a:r>
                  <a:endParaRPr/>
                </a:p>
              </p:txBody>
            </p:sp>
            <p:sp>
              <p:nvSpPr>
                <p:cNvPr id="1918660456" name="TextBox 6"/>
                <p:cNvSpPr txBox="1"/>
                <p:nvPr/>
              </p:nvSpPr>
              <p:spPr bwMode="auto">
                <a:xfrm>
                  <a:off x="3750948" y="0"/>
                  <a:ext cx="3871086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/>
                    <a:t>C/C++, Python, Julia bindings, …</a:t>
                  </a:r>
                  <a:endParaRPr/>
                </a:p>
              </p:txBody>
            </p:sp>
          </p:grpSp>
        </p:grpSp>
        <p:grpSp>
          <p:nvGrpSpPr>
            <p:cNvPr id="1221609028" name="Group 40"/>
            <p:cNvGrpSpPr/>
            <p:nvPr/>
          </p:nvGrpSpPr>
          <p:grpSpPr bwMode="auto">
            <a:xfrm flipH="0" flipV="0">
              <a:off x="1946302" y="1135318"/>
              <a:ext cx="8654348" cy="397638"/>
              <a:chOff x="0" y="0"/>
              <a:chExt cx="8654348" cy="397638"/>
            </a:xfrm>
          </p:grpSpPr>
          <p:sp>
            <p:nvSpPr>
              <p:cNvPr id="1519788546" name="Rectangle 37"/>
              <p:cNvSpPr/>
              <p:nvPr/>
            </p:nvSpPr>
            <p:spPr bwMode="auto">
              <a:xfrm>
                <a:off x="0" y="0"/>
                <a:ext cx="8654348" cy="39763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669802179" name="Group 12"/>
              <p:cNvGrpSpPr/>
              <p:nvPr/>
            </p:nvGrpSpPr>
            <p:grpSpPr bwMode="auto">
              <a:xfrm flipH="0" flipV="0">
                <a:off x="0" y="13149"/>
                <a:ext cx="6154971" cy="366119"/>
                <a:chOff x="0" y="0"/>
                <a:chExt cx="6154971" cy="366119"/>
              </a:xfrm>
            </p:grpSpPr>
            <p:sp>
              <p:nvSpPr>
                <p:cNvPr id="1345816381" name="TextBox 9"/>
                <p:cNvSpPr txBox="1"/>
                <p:nvPr/>
              </p:nvSpPr>
              <p:spPr bwMode="auto">
                <a:xfrm>
                  <a:off x="0" y="0"/>
                  <a:ext cx="3557400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 i="1" u="sng"/>
                    <a:t>Behavior simulation platform</a:t>
                  </a:r>
                  <a:endParaRPr/>
                </a:p>
              </p:txBody>
            </p:sp>
            <p:sp>
              <p:nvSpPr>
                <p:cNvPr id="1768136052" name="TextBox 10"/>
                <p:cNvSpPr txBox="1"/>
                <p:nvPr/>
              </p:nvSpPr>
              <p:spPr bwMode="auto">
                <a:xfrm>
                  <a:off x="3786933" y="0"/>
                  <a:ext cx="2368037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/>
                    <a:t>Platform emulator, …</a:t>
                  </a:r>
                  <a:endParaRPr/>
                </a:p>
              </p:txBody>
            </p:sp>
          </p:grpSp>
        </p:grpSp>
        <p:grpSp>
          <p:nvGrpSpPr>
            <p:cNvPr id="343819125" name="Group 39"/>
            <p:cNvGrpSpPr/>
            <p:nvPr/>
          </p:nvGrpSpPr>
          <p:grpSpPr bwMode="auto">
            <a:xfrm flipH="0" flipV="0">
              <a:off x="1946302" y="616293"/>
              <a:ext cx="9045524" cy="397638"/>
              <a:chOff x="0" y="0"/>
              <a:chExt cx="9045524" cy="397638"/>
            </a:xfrm>
          </p:grpSpPr>
          <p:sp>
            <p:nvSpPr>
              <p:cNvPr id="695973610" name="Rectangle 36"/>
              <p:cNvSpPr/>
              <p:nvPr/>
            </p:nvSpPr>
            <p:spPr bwMode="auto">
              <a:xfrm>
                <a:off x="0" y="0"/>
                <a:ext cx="8654348" cy="39763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2022820936" name="Group 14"/>
              <p:cNvGrpSpPr/>
              <p:nvPr/>
            </p:nvGrpSpPr>
            <p:grpSpPr bwMode="auto">
              <a:xfrm flipH="0" flipV="0">
                <a:off x="0" y="20184"/>
                <a:ext cx="9045524" cy="376279"/>
                <a:chOff x="0" y="0"/>
                <a:chExt cx="9045524" cy="376279"/>
              </a:xfrm>
            </p:grpSpPr>
            <p:sp>
              <p:nvSpPr>
                <p:cNvPr id="848351795" name="TextBox 8"/>
                <p:cNvSpPr txBox="1"/>
                <p:nvPr/>
              </p:nvSpPr>
              <p:spPr bwMode="auto">
                <a:xfrm>
                  <a:off x="0" y="0"/>
                  <a:ext cx="2630036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 i="1" u="sng"/>
                    <a:t>Pre-processing tools</a:t>
                  </a:r>
                  <a:endParaRPr/>
                </a:p>
              </p:txBody>
            </p:sp>
            <p:sp>
              <p:nvSpPr>
                <p:cNvPr id="1030208829" name="TextBox 11"/>
                <p:cNvSpPr txBox="1"/>
                <p:nvPr/>
              </p:nvSpPr>
              <p:spPr bwMode="auto">
                <a:xfrm>
                  <a:off x="3750948" y="10159"/>
                  <a:ext cx="5294576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/>
                    <a:t>Mid-level and low-level code generators, …</a:t>
                  </a:r>
                  <a:endParaRPr/>
                </a:p>
              </p:txBody>
            </p:sp>
          </p:grpSp>
        </p:grpSp>
      </p:grpSp>
      <p:grpSp>
        <p:nvGrpSpPr>
          <p:cNvPr id="1877438697" name="Group 54"/>
          <p:cNvGrpSpPr/>
          <p:nvPr/>
        </p:nvGrpSpPr>
        <p:grpSpPr bwMode="auto">
          <a:xfrm flipH="0" flipV="0">
            <a:off x="253087" y="2141186"/>
            <a:ext cx="11635800" cy="1959879"/>
            <a:chOff x="0" y="0"/>
            <a:chExt cx="11635800" cy="1959879"/>
          </a:xfrm>
        </p:grpSpPr>
        <p:sp>
          <p:nvSpPr>
            <p:cNvPr id="1506629352" name="Rectangle 15"/>
            <p:cNvSpPr/>
            <p:nvPr/>
          </p:nvSpPr>
          <p:spPr bwMode="auto">
            <a:xfrm>
              <a:off x="0" y="0"/>
              <a:ext cx="11455509" cy="195987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11503165" name="Group 46"/>
            <p:cNvGrpSpPr/>
            <p:nvPr/>
          </p:nvGrpSpPr>
          <p:grpSpPr bwMode="auto">
            <a:xfrm flipH="0" flipV="0">
              <a:off x="7378395" y="91346"/>
              <a:ext cx="4257405" cy="1740897"/>
              <a:chOff x="0" y="0"/>
              <a:chExt cx="4257405" cy="1740897"/>
            </a:xfrm>
          </p:grpSpPr>
          <p:sp>
            <p:nvSpPr>
              <p:cNvPr id="292359095" name="Rectangle 43"/>
              <p:cNvSpPr/>
              <p:nvPr/>
            </p:nvSpPr>
            <p:spPr bwMode="auto">
              <a:xfrm>
                <a:off x="0" y="0"/>
                <a:ext cx="4002652" cy="17408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19529301" name="TextBox 30"/>
              <p:cNvSpPr txBox="1"/>
              <p:nvPr/>
            </p:nvSpPr>
            <p:spPr bwMode="auto">
              <a:xfrm>
                <a:off x="37231" y="15562"/>
                <a:ext cx="4220173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i="1" u="sng"/>
                  <a:t>Application-centered architectures</a:t>
                </a:r>
                <a:endParaRPr/>
              </a:p>
            </p:txBody>
          </p:sp>
          <p:grpSp>
            <p:nvGrpSpPr>
              <p:cNvPr id="204847564" name="Group 42"/>
              <p:cNvGrpSpPr/>
              <p:nvPr/>
            </p:nvGrpSpPr>
            <p:grpSpPr bwMode="auto">
              <a:xfrm flipH="0" flipV="0">
                <a:off x="37231" y="503172"/>
                <a:ext cx="3896486" cy="1143250"/>
                <a:chOff x="0" y="0"/>
                <a:chExt cx="3896486" cy="1143250"/>
              </a:xfrm>
            </p:grpSpPr>
            <p:sp>
              <p:nvSpPr>
                <p:cNvPr id="1512067035" name="TextBox 31"/>
                <p:cNvSpPr txBox="1"/>
                <p:nvPr/>
              </p:nvSpPr>
              <p:spPr bwMode="auto">
                <a:xfrm>
                  <a:off x="0" y="0"/>
                  <a:ext cx="3410365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/>
                    <a:t>Specialized instruction sets</a:t>
                  </a:r>
                  <a:endParaRPr/>
                </a:p>
              </p:txBody>
            </p:sp>
            <p:sp>
              <p:nvSpPr>
                <p:cNvPr id="941285225" name="TextBox 32"/>
                <p:cNvSpPr txBox="1"/>
                <p:nvPr/>
              </p:nvSpPr>
              <p:spPr bwMode="auto">
                <a:xfrm>
                  <a:off x="0" y="388564"/>
                  <a:ext cx="3116030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/>
                    <a:t>Optimized nodes layouts</a:t>
                  </a:r>
                  <a:endParaRPr/>
                </a:p>
              </p:txBody>
            </p:sp>
            <p:sp>
              <p:nvSpPr>
                <p:cNvPr id="1438180515" name="TextBox 33"/>
                <p:cNvSpPr txBox="1"/>
                <p:nvPr/>
              </p:nvSpPr>
              <p:spPr bwMode="auto">
                <a:xfrm>
                  <a:off x="0" y="777130"/>
                  <a:ext cx="3896486" cy="366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/>
                    <a:t>Hyperparallelization</a:t>
                  </a:r>
                  <a:r>
                    <a:rPr lang="en-US"/>
                    <a:t> techniques</a:t>
                  </a:r>
                  <a:endParaRPr/>
                </a:p>
              </p:txBody>
            </p:sp>
          </p:grpSp>
        </p:grpSp>
        <p:sp>
          <p:nvSpPr>
            <p:cNvPr id="1320090140" name="TextBox 41"/>
            <p:cNvSpPr txBox="1"/>
            <p:nvPr/>
          </p:nvSpPr>
          <p:spPr bwMode="auto">
            <a:xfrm>
              <a:off x="2" y="0"/>
              <a:ext cx="1557363" cy="640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b="1">
                  <a:ln w="0"/>
                </a:rPr>
                <a:t>Hardware component</a:t>
              </a:r>
              <a:endParaRPr/>
            </a:p>
          </p:txBody>
        </p:sp>
        <p:grpSp>
          <p:nvGrpSpPr>
            <p:cNvPr id="989113685" name="Group 48"/>
            <p:cNvGrpSpPr/>
            <p:nvPr/>
          </p:nvGrpSpPr>
          <p:grpSpPr bwMode="auto">
            <a:xfrm flipH="0" flipV="0">
              <a:off x="4174296" y="79894"/>
              <a:ext cx="3181756" cy="1752672"/>
              <a:chOff x="0" y="0"/>
              <a:chExt cx="3181756" cy="1752672"/>
            </a:xfrm>
          </p:grpSpPr>
          <p:sp>
            <p:nvSpPr>
              <p:cNvPr id="485406970" name="Rectangle 47"/>
              <p:cNvSpPr/>
              <p:nvPr/>
            </p:nvSpPr>
            <p:spPr bwMode="auto">
              <a:xfrm>
                <a:off x="0" y="11451"/>
                <a:ext cx="3143998" cy="17408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00643618" name="TextBox 27"/>
              <p:cNvSpPr txBox="1"/>
              <p:nvPr/>
            </p:nvSpPr>
            <p:spPr bwMode="auto">
              <a:xfrm>
                <a:off x="51375" y="0"/>
                <a:ext cx="3130380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i="1" u="sng"/>
                  <a:t>Multi-board architectures</a:t>
                </a:r>
                <a:endParaRPr/>
              </a:p>
            </p:txBody>
          </p:sp>
          <p:sp>
            <p:nvSpPr>
              <p:cNvPr id="922574968" name="TextBox 29"/>
              <p:cNvSpPr txBox="1"/>
              <p:nvPr/>
            </p:nvSpPr>
            <p:spPr bwMode="auto">
              <a:xfrm>
                <a:off x="127521" y="375849"/>
                <a:ext cx="3042574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Extended instruction set</a:t>
                </a:r>
                <a:endParaRPr/>
              </a:p>
            </p:txBody>
          </p:sp>
          <p:sp>
            <p:nvSpPr>
              <p:cNvPr id="1783817408" name="TextBox 44"/>
              <p:cNvSpPr txBox="1"/>
              <p:nvPr/>
            </p:nvSpPr>
            <p:spPr bwMode="auto">
              <a:xfrm>
                <a:off x="127521" y="1112232"/>
                <a:ext cx="3020046" cy="640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Fixed and expandable architectures</a:t>
                </a:r>
                <a:endParaRPr/>
              </a:p>
            </p:txBody>
          </p:sp>
          <p:sp>
            <p:nvSpPr>
              <p:cNvPr id="1024339134" name="TextBox 45"/>
              <p:cNvSpPr txBox="1"/>
              <p:nvPr/>
            </p:nvSpPr>
            <p:spPr bwMode="auto">
              <a:xfrm>
                <a:off x="127521" y="744040"/>
                <a:ext cx="3020046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Communication protocols</a:t>
                </a:r>
                <a:endParaRPr/>
              </a:p>
            </p:txBody>
          </p:sp>
        </p:grpSp>
        <p:grpSp>
          <p:nvGrpSpPr>
            <p:cNvPr id="2093173280" name="Group 52"/>
            <p:cNvGrpSpPr/>
            <p:nvPr/>
          </p:nvGrpSpPr>
          <p:grpSpPr bwMode="auto">
            <a:xfrm flipH="0" flipV="0">
              <a:off x="1424311" y="86109"/>
              <a:ext cx="2954378" cy="1752348"/>
              <a:chOff x="0" y="0"/>
              <a:chExt cx="2954378" cy="1752348"/>
            </a:xfrm>
          </p:grpSpPr>
          <p:sp>
            <p:nvSpPr>
              <p:cNvPr id="468943986" name="Rectangle 51"/>
              <p:cNvSpPr/>
              <p:nvPr/>
            </p:nvSpPr>
            <p:spPr bwMode="auto">
              <a:xfrm>
                <a:off x="11770" y="11451"/>
                <a:ext cx="2686813" cy="17408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29828778" name="TextBox 26"/>
              <p:cNvSpPr txBox="1"/>
              <p:nvPr/>
            </p:nvSpPr>
            <p:spPr bwMode="auto">
              <a:xfrm>
                <a:off x="82400" y="0"/>
                <a:ext cx="2247246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i="1" u="sng"/>
                  <a:t>Core architecture</a:t>
                </a:r>
                <a:endParaRPr/>
              </a:p>
            </p:txBody>
          </p:sp>
          <p:sp>
            <p:nvSpPr>
              <p:cNvPr id="555112333" name="TextBox 28"/>
              <p:cNvSpPr txBox="1"/>
              <p:nvPr/>
            </p:nvSpPr>
            <p:spPr bwMode="auto">
              <a:xfrm>
                <a:off x="0" y="487608"/>
                <a:ext cx="2497484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Core instruction set</a:t>
                </a:r>
                <a:endParaRPr/>
              </a:p>
            </p:txBody>
          </p:sp>
          <p:sp>
            <p:nvSpPr>
              <p:cNvPr id="280502839" name="TextBox 49"/>
              <p:cNvSpPr txBox="1"/>
              <p:nvPr/>
            </p:nvSpPr>
            <p:spPr bwMode="auto">
              <a:xfrm>
                <a:off x="0" y="830920"/>
                <a:ext cx="2954378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Heterogeneous kernels</a:t>
                </a:r>
                <a:endParaRPr/>
              </a:p>
            </p:txBody>
          </p:sp>
          <p:sp>
            <p:nvSpPr>
              <p:cNvPr id="1637188472" name="TextBox 50"/>
              <p:cNvSpPr txBox="1"/>
              <p:nvPr/>
            </p:nvSpPr>
            <p:spPr bwMode="auto">
              <a:xfrm>
                <a:off x="0" y="1214591"/>
                <a:ext cx="2115081" cy="366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/>
                  <a:t>Adaptive control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38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Platform dataflow overview</a:t>
            </a:r>
            <a:endParaRPr/>
          </a:p>
        </p:txBody>
      </p:sp>
      <p:pic>
        <p:nvPicPr>
          <p:cNvPr id="3647078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4027" y="1996718"/>
            <a:ext cx="10629899" cy="4705349"/>
          </a:xfrm>
          <a:prstGeom prst="rect">
            <a:avLst/>
          </a:prstGeom>
        </p:spPr>
      </p:pic>
      <p:sp>
        <p:nvSpPr>
          <p:cNvPr id="1371315194" name=""/>
          <p:cNvSpPr txBox="1"/>
          <p:nvPr/>
        </p:nvSpPr>
        <p:spPr bwMode="auto">
          <a:xfrm rot="0" flipH="0" flipV="0">
            <a:off x="776029" y="5618679"/>
            <a:ext cx="262415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Modes of Host/Platform communications</a:t>
            </a:r>
            <a:endParaRPr/>
          </a:p>
          <a:p>
            <a:pPr>
              <a:defRPr/>
            </a:pPr>
            <a:r>
              <a:rPr/>
              <a:t>Protocols</a:t>
            </a:r>
            <a:endParaRPr/>
          </a:p>
        </p:txBody>
      </p:sp>
      <p:cxnSp>
        <p:nvCxnSpPr>
          <p:cNvPr id="398476817" name=""/>
          <p:cNvCxnSpPr>
            <a:stCxn id="1371315194" idx="3"/>
          </p:cNvCxnSpPr>
          <p:nvPr/>
        </p:nvCxnSpPr>
        <p:spPr bwMode="auto">
          <a:xfrm rot="0" flipH="0" flipV="1">
            <a:off x="3395867" y="3499634"/>
            <a:ext cx="1753008" cy="2576424"/>
          </a:xfrm>
          <a:prstGeom prst="curvedConnector2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164332" name=""/>
          <p:cNvCxnSpPr>
            <a:stCxn id="1371315194" idx="3"/>
          </p:cNvCxnSpPr>
          <p:nvPr/>
        </p:nvCxnSpPr>
        <p:spPr bwMode="auto">
          <a:xfrm rot="0" flipH="0" flipV="1">
            <a:off x="3395867" y="5528235"/>
            <a:ext cx="1339572" cy="547824"/>
          </a:xfrm>
          <a:prstGeom prst="curvedConnector3">
            <a:avLst>
              <a:gd name="adj1" fmla="val 100697"/>
            </a:avLst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9031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639502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2474" y="2190749"/>
            <a:ext cx="10687050" cy="2476499"/>
          </a:xfrm>
          <a:prstGeom prst="rect">
            <a:avLst/>
          </a:prstGeom>
        </p:spPr>
      </p:pic>
      <p:sp>
        <p:nvSpPr>
          <p:cNvPr id="1129617741" name=""/>
          <p:cNvSpPr txBox="1"/>
          <p:nvPr/>
        </p:nvSpPr>
        <p:spPr bwMode="auto">
          <a:xfrm rot="0" flipH="0" flipV="0">
            <a:off x="4529999" y="4667249"/>
            <a:ext cx="253466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Dedicated control node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7574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Topologies: network vs platform</a:t>
            </a:r>
            <a:endParaRPr/>
          </a:p>
        </p:txBody>
      </p:sp>
      <p:pic>
        <p:nvPicPr>
          <p:cNvPr id="1421605782" name=""/>
          <p:cNvPicPr>
            <a:picLocks noChangeAspect="1"/>
          </p:cNvPicPr>
          <p:nvPr/>
        </p:nvPicPr>
        <p:blipFill rotWithShape="1">
          <a:blip r:embed="rId3"/>
          <a:srcRect l="314" t="3440" r="5438" b="10557"/>
          <a:stretch/>
        </p:blipFill>
        <p:spPr bwMode="auto">
          <a:xfrm flipH="0" flipV="0">
            <a:off x="350661" y="2521323"/>
            <a:ext cx="11490676" cy="4332940"/>
          </a:xfrm>
          <a:prstGeom prst="rect">
            <a:avLst/>
          </a:prstGeom>
        </p:spPr>
      </p:pic>
      <p:pic>
        <p:nvPicPr>
          <p:cNvPr id="11696236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935505" y="2284132"/>
            <a:ext cx="1936376" cy="2133295"/>
          </a:xfrm>
          <a:prstGeom prst="rect">
            <a:avLst/>
          </a:prstGeom>
        </p:spPr>
      </p:pic>
      <p:sp>
        <p:nvSpPr>
          <p:cNvPr id="323038215" name=""/>
          <p:cNvSpPr txBox="1"/>
          <p:nvPr/>
        </p:nvSpPr>
        <p:spPr bwMode="auto">
          <a:xfrm rot="0" flipH="0" flipV="0">
            <a:off x="350661" y="2284132"/>
            <a:ext cx="258741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Network topology and the order of processing</a:t>
            </a:r>
            <a:endParaRPr/>
          </a:p>
        </p:txBody>
      </p:sp>
      <p:sp>
        <p:nvSpPr>
          <p:cNvPr id="648888844" name=""/>
          <p:cNvSpPr txBox="1"/>
          <p:nvPr/>
        </p:nvSpPr>
        <p:spPr bwMode="auto">
          <a:xfrm rot="0" flipH="0" flipV="0">
            <a:off x="7625147" y="1770529"/>
            <a:ext cx="259641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Platform topology and data pass-through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2026-05-15T11:10:26Z</dcterms:modified>
</cp:coreProperties>
</file>